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43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59C77-FA9B-FD6F-B93E-B5EA2EFA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086F0-83B2-66F9-2A47-9F22EE9C2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6B30E-54B4-F80F-C366-4422EB31B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DDA2F-FD37-7C40-3F3A-9AB9C7DFF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25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90898"/>
            <a:ext cx="8001000" cy="1063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3600" dirty="0"/>
              <a:t>Exploring Information-Theoretic Structure in AGN Reverberation Mapping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673883"/>
            <a:ext cx="6256139" cy="21431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Traditional cross-correlation methods simplify complex AGN variability to pairwise relationships.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2995352"/>
            <a:ext cx="8001000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Information Decomposition (SURD) offers a richer framework, distinguishing unique, redundant, and synergistic information flow.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531133"/>
            <a:ext cx="5868591" cy="21431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Aims to provide model-independent insights into multi-band AGN light curve interactions.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673883"/>
            <a:ext cx="642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67E22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2995352"/>
            <a:ext cx="642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67E22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1500" y="3531133"/>
            <a:ext cx="642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67E22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B0E8C-B814-B3C3-3FC8-61837111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CDA967C-0760-3EB6-85A2-8B3EED85ED6F}"/>
              </a:ext>
            </a:extLst>
          </p:cNvPr>
          <p:cNvSpPr/>
          <p:nvPr/>
        </p:nvSpPr>
        <p:spPr>
          <a:xfrm>
            <a:off x="118078" y="13762"/>
            <a:ext cx="9025922" cy="76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2600" dirty="0"/>
              <a:t>The problem and the approach:</a:t>
            </a:r>
          </a:p>
          <a:p>
            <a:pPr>
              <a:lnSpc>
                <a:spcPct val="96000"/>
              </a:lnSpc>
            </a:pPr>
            <a:r>
              <a:rPr lang="en-US" sz="2600" dirty="0"/>
              <a:t>From Pairwise Correlations to Multivariate Information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D5ED07-AC24-A264-18AC-E5048CCB1DF7}"/>
                  </a:ext>
                </a:extLst>
              </p:cNvPr>
              <p:cNvSpPr txBox="1"/>
              <p:nvPr/>
            </p:nvSpPr>
            <p:spPr>
              <a:xfrm>
                <a:off x="0" y="729022"/>
                <a:ext cx="9144000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Classical Reverberation Typically measures: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continuum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/>
                      <m:t>↔</m:t>
                    </m:r>
                    <m:r>
                      <m:rPr>
                        <m:sty m:val="p"/>
                      </m:rPr>
                      <a:rPr lang="en-US"/>
                      <m:t>line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  <m:r>
                          <a:rPr lang="en-US"/>
                          <m:t>+</m:t>
                        </m:r>
                        <m:r>
                          <a:rPr lang="en-US" i="1"/>
                          <m:t>𝜏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Usually based on: </a:t>
                </a:r>
              </a:p>
              <a:p>
                <a:pPr lvl="1"/>
                <a:r>
                  <a:rPr lang="en-US" dirty="0"/>
                  <a:t>ICCF, DCF, pairwise lag correlations. </a:t>
                </a:r>
              </a:p>
              <a:p>
                <a:r>
                  <a:rPr lang="en-US" b="1" dirty="0"/>
                  <a:t>Limitation</a:t>
                </a:r>
              </a:p>
              <a:p>
                <a:r>
                  <a:rPr lang="en-US" dirty="0"/>
                  <a:t>BLR variability is likely: multicomponent, delayed, distributed, nonlinear. </a:t>
                </a:r>
              </a:p>
              <a:p>
                <a:r>
                  <a:rPr lang="en-US" dirty="0"/>
                  <a:t>Pairwise correlations cannot distinguish: shared/redundant information, unique predictive information, synergistic interactions.</a:t>
                </a:r>
              </a:p>
              <a:p>
                <a:endParaRPr lang="en-US" dirty="0"/>
              </a:p>
              <a:p>
                <a:r>
                  <a:rPr lang="en-US" dirty="0"/>
                  <a:t>The Proposed Approach: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SURD Framework</a:t>
                </a:r>
                <a:r>
                  <a:rPr lang="en-US" b="1" dirty="0"/>
                  <a:t>: </a:t>
                </a:r>
                <a:r>
                  <a:rPr lang="en-US" dirty="0"/>
                  <a:t>Decompose predictive information into:</a:t>
                </a:r>
              </a:p>
              <a:p>
                <a:r>
                  <a:rPr lang="en-US" b="1" dirty="0"/>
                  <a:t>Unique,</a:t>
                </a:r>
                <a:r>
                  <a:rPr lang="en-US" dirty="0"/>
                  <a:t>  </a:t>
                </a:r>
                <a:r>
                  <a:rPr lang="en-US" b="1" dirty="0"/>
                  <a:t>Redundant</a:t>
                </a:r>
                <a:r>
                  <a:rPr lang="en-US" dirty="0"/>
                  <a:t>  and </a:t>
                </a:r>
                <a:r>
                  <a:rPr lang="en-US" b="1" dirty="0"/>
                  <a:t>Synergistic</a:t>
                </a:r>
                <a:r>
                  <a:rPr lang="en-US" dirty="0"/>
                  <a:t> information </a:t>
                </a:r>
              </a:p>
              <a:p>
                <a:r>
                  <a:rPr lang="en-US" b="1" dirty="0"/>
                  <a:t>Key Question</a:t>
                </a:r>
              </a:p>
              <a:p>
                <a:r>
                  <a:rPr lang="en-US" dirty="0"/>
                  <a:t>Do different velocity-resolved Hβ components </a:t>
                </a:r>
                <a:r>
                  <a:rPr lang="en-US" dirty="0" err="1"/>
                  <a:t>contain:only</a:t>
                </a:r>
                <a:r>
                  <a:rPr lang="en-US" dirty="0"/>
                  <a:t> redundant echoes of the continuum,</a:t>
                </a:r>
                <a:br>
                  <a:rPr lang="en-US" dirty="0"/>
                </a:br>
                <a:r>
                  <a:rPr lang="en-US" dirty="0"/>
                  <a:t>OR genuinely joint predictive structure?</a:t>
                </a:r>
              </a:p>
              <a:p>
                <a:r>
                  <a:rPr lang="en-US" i="1" dirty="0"/>
                  <a:t>Goal: test whether AGN reverberation contains multivariate information structure beyond standard lag analysis.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D5ED07-AC24-A264-18AC-E5048CCB1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9022"/>
                <a:ext cx="9144000" cy="4801314"/>
              </a:xfrm>
              <a:prstGeom prst="rect">
                <a:avLst/>
              </a:prstGeom>
              <a:blipFill>
                <a:blip r:embed="rId3"/>
                <a:stretch>
                  <a:fillRect l="-556" t="-528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60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813102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dirty="0">
                <a:solidFill>
                  <a:srgbClr val="0A2240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NGC 5548: Data Preparation for SURD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5176" y="1139688"/>
            <a:ext cx="5798703" cy="24102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Utilizing NGC 5548 AGN Watch data for continuum and integrated Hβ.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85176" y="1562868"/>
            <a:ext cx="3933403" cy="49956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Irregularly sampled light curves were re-sampled onto a uniform grid.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5176" y="2262097"/>
            <a:ext cx="3933403" cy="49956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Signals standardized (z-scored) for information-theoretic analysis.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" y="2878206"/>
            <a:ext cx="65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661" y="1417309"/>
            <a:ext cx="4909016" cy="26181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646330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dirty="0">
                <a:solidFill>
                  <a:srgbClr val="0A2240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Velocity-Resolved Hβ: Blue, Core, and Red Wings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2063818"/>
            <a:ext cx="3857625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Hβ spectral profiles processed to create velocity-resolved light curves (blue, core, red wings).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1500" y="2513874"/>
            <a:ext cx="3857625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Matched to a consistent continuum light curve (c5100.dat) based on MJD range.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2963931"/>
            <a:ext cx="3857625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All four signals (continuum, blue, core, red Hβ) resampled and standardized for SURD.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063818"/>
            <a:ext cx="535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67E22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513874"/>
            <a:ext cx="535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67E22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963931"/>
            <a:ext cx="535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67E22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492507"/>
            <a:ext cx="4654419" cy="2619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560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kern="0" spc="1" dirty="0">
                <a:solidFill>
                  <a:srgbClr val="0A2240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FIRST LOOK: SURD ON NGC 5548 (CONTINUUM-HΒ)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16198"/>
            <a:ext cx="3167053" cy="554310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Initial SURD analysis performed on continuum (driver) and integrated Hβ (target) to map information flow.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1500" y="1570509"/>
            <a:ext cx="3167053" cy="704329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Observed distinct patterns in Mutual Information, Redundancy, and Synergy across various time lags.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274838"/>
            <a:ext cx="3167053" cy="910047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Information Leak profile provides critical insights into unexplained variance and potential missing drivers.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155263" y="1016198"/>
            <a:ext cx="4286250" cy="185737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66" y="1016198"/>
            <a:ext cx="3095616" cy="1857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44622" y="3052167"/>
            <a:ext cx="310753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2C3E50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Fig 4.1: Information Decomposition (MI, Redundancy, Synergy)</a:t>
            </a:r>
            <a:endParaRPr lang="en-US" sz="600" dirty="0"/>
          </a:p>
        </p:txBody>
      </p:sp>
      <p:sp>
        <p:nvSpPr>
          <p:cNvPr id="10" name="Shape 6"/>
          <p:cNvSpPr/>
          <p:nvPr/>
        </p:nvSpPr>
        <p:spPr>
          <a:xfrm>
            <a:off x="4155263" y="3307556"/>
            <a:ext cx="4286250" cy="185737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185" y="3307556"/>
            <a:ext cx="3250406" cy="18573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3817" y="5343525"/>
            <a:ext cx="1709142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2C3E50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Fig 4.2: Information Leak Profile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786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dirty="0">
                <a:solidFill>
                  <a:srgbClr val="0A2240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VALIDATING SURD RESULTS: ROBUSTNESS UNDER INVESTIGATION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988684"/>
            <a:ext cx="3571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E67E22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Test A: Histogram Bin Sensitivity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1241199"/>
            <a:ext cx="35450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Synergy and leak curves show qualitative consistency across nbins (4-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1424062"/>
            <a:ext cx="22449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12), suggesting robustness to discretization.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1887317"/>
            <a:ext cx="3571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E67E22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Test B: Cadence Sensitivity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139832"/>
            <a:ext cx="34557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Core findings appear preserved with varying interpolation cadences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2322695"/>
            <a:ext cx="22270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(1, 2, 5 days), indicating preliminary stability.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" y="2785951"/>
            <a:ext cx="3571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E67E22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Test C: Shuffle/Surrogate Tests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3038466"/>
            <a:ext cx="3486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Real synergy values for Hβ components are suggestively higher than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71500" y="3221329"/>
            <a:ext cx="28985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shuffled baselines, hinting at genuine temporal structure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3404192"/>
            <a:ext cx="6697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dependence.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0" y="988684"/>
            <a:ext cx="4300538" cy="2014538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581" y="1060121"/>
            <a:ext cx="4143375" cy="18573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167528"/>
            <a:ext cx="430053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7F8C8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Fig 1: Synergy vs. Lag for Different Bins (Target: Core Hb)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4572000" y="3426489"/>
            <a:ext cx="4300538" cy="2014538"/>
          </a:xfrm>
          <a:prstGeom prst="rect">
            <a:avLst/>
          </a:prstGeom>
          <a:solidFill>
            <a:srgbClr val="FFFFFF"/>
          </a:solidFill>
          <a:ln w="9144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3497926"/>
            <a:ext cx="4143375" cy="18573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5605332"/>
            <a:ext cx="428625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7F8C8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Fig 2: Real Synergy vs. Continuum-Shuffled Baseline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dirty="0">
                <a:solidFill>
                  <a:srgbClr val="0A2240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Future Directions: Deeper Insights and Cross-Validation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988684"/>
            <a:ext cx="3441976" cy="541474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67E22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Lag Range Extension:</a:t>
            </a: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Revealed longer synergy peaks for Core Hβ (111d) and Red Wing Hβ (93d).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1500" y="1530158"/>
            <a:ext cx="3441976" cy="541474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67E22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Revised Interpretation:</a:t>
            </a: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Physical modeling needs to reflect these longer temporal scales.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2071632"/>
            <a:ext cx="3441976" cy="541474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67E22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ICCF Comparison:</a:t>
            </a: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Benchmarking SURD synergy lags against classical cross-correlation peaks.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613106"/>
            <a:ext cx="3441976" cy="534330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67E22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Further Null Tests:</a:t>
            </a:r>
            <a:r>
              <a:rPr lang="en-US" sz="8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Implementing Fourier phase-randomized surrogates for significance.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442101" y="988684"/>
            <a:ext cx="806965" cy="435769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442101" y="988684"/>
            <a:ext cx="806965" cy="4357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4F4F6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Target Name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249066" y="988684"/>
            <a:ext cx="848237" cy="435769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49066" y="988684"/>
            <a:ext cx="848237" cy="4357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4F4F6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Old Peak (d)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097302" y="988684"/>
            <a:ext cx="848237" cy="435769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97302" y="988684"/>
            <a:ext cx="848237" cy="4357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4F4F6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New Peak (d)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945539" y="988684"/>
            <a:ext cx="813439" cy="435769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45539" y="988684"/>
            <a:ext cx="813439" cy="4357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4F4F6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Old Synergy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758978" y="988684"/>
            <a:ext cx="813522" cy="435769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58978" y="988684"/>
            <a:ext cx="813522" cy="4357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4F4F6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New Synergy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442101" y="1424453"/>
            <a:ext cx="806965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Core Hβ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249066" y="1424453"/>
            <a:ext cx="848237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52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097302" y="1424453"/>
            <a:ext cx="848237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111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945539" y="1424453"/>
            <a:ext cx="813439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0.101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758978" y="1424453"/>
            <a:ext cx="813522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0.148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42101" y="1735206"/>
            <a:ext cx="4130399" cy="314325"/>
          </a:xfrm>
          <a:prstGeom prst="rect">
            <a:avLst/>
          </a:prstGeom>
          <a:solidFill>
            <a:srgbClr val="EA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442101" y="1735206"/>
            <a:ext cx="80696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Red Wing Hβ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249066" y="1735206"/>
            <a:ext cx="848237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59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097302" y="1735206"/>
            <a:ext cx="848237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93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945539" y="1735206"/>
            <a:ext cx="813439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0.121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758978" y="1735206"/>
            <a:ext cx="813522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0.147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442101" y="2049531"/>
            <a:ext cx="806965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Blue Wing Hβ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249066" y="2049531"/>
            <a:ext cx="848237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43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097302" y="2049531"/>
            <a:ext cx="848237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nan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945539" y="2049531"/>
            <a:ext cx="813439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0.113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758978" y="2049531"/>
            <a:ext cx="813522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0.113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71500" y="4293394"/>
            <a:ext cx="4043363" cy="421481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This is a progress update; conclusions are preliminary and subject to ongoing validation.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8D838-3814-0A07-2236-13D8029F9873}"/>
              </a:ext>
            </a:extLst>
          </p:cNvPr>
          <p:cNvSpPr txBox="1"/>
          <p:nvPr/>
        </p:nvSpPr>
        <p:spPr>
          <a:xfrm>
            <a:off x="2286000" y="1834503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Extend lag scans and test edge effects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circular-shift/block-shuffle/Fourier surrogates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with ICCF/DCF classical lags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confidence intervals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interpret blue/core/red differences</a:t>
            </a:r>
          </a:p>
        </p:txBody>
      </p:sp>
    </p:spTree>
    <p:extLst>
      <p:ext uri="{BB962C8B-B14F-4D97-AF65-F5344CB8AC3E}">
        <p14:creationId xmlns:p14="http://schemas.microsoft.com/office/powerpoint/2010/main" val="348366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73D1E1-8018-4B4F-9AC7-B90B82BE16F6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622</Words>
  <Application>Microsoft Macintosh PowerPoint</Application>
  <PresentationFormat>On-screen Show (16:9)</PresentationFormat>
  <Paragraphs>90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Open Sans</vt:lpstr>
      <vt:lpstr>Open Sans Light</vt:lpstr>
      <vt:lpstr>Roboto Mono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Mitra, Ayan</cp:lastModifiedBy>
  <cp:revision>7</cp:revision>
  <dcterms:created xsi:type="dcterms:W3CDTF">2026-05-28T22:06:15Z</dcterms:created>
  <dcterms:modified xsi:type="dcterms:W3CDTF">2026-05-28T22:22:56Z</dcterms:modified>
</cp:coreProperties>
</file>